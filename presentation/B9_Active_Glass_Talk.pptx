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</p:sldIdLst>
  <p:sldSz cx="18288000" cy="10287000"/>
  <p:notesSz cx="6858000" cy="9144000"/>
  <p:embeddedFontLst>
    <p:embeddedFont>
      <p:font typeface="Open Sauce Bold" charset="1" panose="00000800000000000000"/>
      <p:regular r:id="rId21"/>
    </p:embeddedFont>
    <p:embeddedFont>
      <p:font typeface="Open Sans 1" charset="1" panose="00000000000000000000"/>
      <p:regular r:id="rId22"/>
    </p:embeddedFont>
    <p:embeddedFont>
      <p:font typeface="Open Sans 1 Bold" charset="1" panose="00000000000000000000"/>
      <p:regular r:id="rId23"/>
    </p:embeddedFont>
    <p:embeddedFont>
      <p:font typeface="Open Sans 1 Italics" charset="1" panose="00000000000000000000"/>
      <p:regular r:id="rId24"/>
    </p:embeddedFont>
    <p:embeddedFont>
      <p:font typeface="Open Sans 2" charset="1" panose="020B0606030504020204"/>
      <p:regular r:id="rId25"/>
    </p:embeddedFont>
    <p:embeddedFont>
      <p:font typeface="Open Sans 2 Italic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4" id="4"/>
          <p:cNvSpPr/>
          <p:nvPr/>
        </p:nvSpPr>
        <p:spPr>
          <a:xfrm>
            <a:off x="1588577" y="6070740"/>
            <a:ext cx="8810692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88577" y="2541117"/>
            <a:ext cx="9692640" cy="32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42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Decoding Dense Active Fluids Through Machine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72784" y="6533861"/>
            <a:ext cx="4129747" cy="64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8"/>
              </a:lnSpc>
              <a:spcBef>
                <a:spcPct val="0"/>
              </a:spcBef>
            </a:pPr>
            <a:r>
              <a:rPr lang="en-US" sz="2086" spc="-62" strike="noStrike" u="none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for kinetic arrest in a dense active glass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8577" y="6533861"/>
            <a:ext cx="3318718" cy="64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2086" spc="-62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Scaling, Koopman prediction and reduced equations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8577" y="8604800"/>
            <a:ext cx="35007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Presented by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51792" y="8604800"/>
            <a:ext cx="475488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Code &amp; data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8577" y="8937625"/>
            <a:ext cx="35007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51792" y="8937625"/>
            <a:ext cx="475488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github.com/Rithvik188/Compflu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1198" y="981075"/>
            <a:ext cx="22645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931773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Rithvik Arulprakash  ·  Harshith KV  ·  Vipin Sudhakar  ·  Vijay Murugan</a:t>
            </a:r>
          </a:p>
        </p:txBody>
      </p:sp>
      <p:pic>
        <p:nvPicPr>
          <p:cNvPr id="17" name="Picture 16" descr="titl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792" y="1783080"/>
            <a:ext cx="4581144" cy="656019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051792" y="1783080"/>
            <a:ext cx="4581144" cy="6560198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7200" spc="-504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Flow or freeze?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3063240"/>
            <a:ext cx="846734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591056" y="3520440"/>
            <a:ext cx="40233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000" spc="-6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Dense self-propelled particles each push themselves with an </a:t>
            </a:r>
            <a:r>
              <a:rPr lang="en-US" sz="2000" spc="-60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active force f</a:t>
            </a:r>
            <a:r>
              <a:rPr lang="en-US" sz="2000" spc="-6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. Packed tightly, every particle is caged by its neighbours.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520440"/>
            <a:ext cx="40690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000" spc="-6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Strong pushing keeps the system </a:t>
            </a:r>
            <a:r>
              <a:rPr lang="en-US" sz="2000" spc="-60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flowing</a:t>
            </a:r>
            <a:r>
              <a:rPr lang="en-US" sz="2000" spc="-6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; weak pushing lets it </a:t>
            </a:r>
            <a:r>
              <a:rPr lang="en-US" sz="2000" spc="-60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jam and freeze</a:t>
            </a:r>
            <a:r>
              <a:rPr lang="en-US" sz="2000" spc="-6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. How the motion dies out near this transition has no closed theory.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1056" y="6629400"/>
            <a:ext cx="8467344" cy="251460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65376" y="6830568"/>
            <a:ext cx="7918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400" spc="-72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7242048"/>
            <a:ext cx="7918704" cy="176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900" spc="-56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Learn the dynamics of the kinetic energy K(t) directly from simulations: scaling and master curves, Koopman-operator models, HAVOK and sparse equation discovery.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01400" y="1828800"/>
            <a:ext cx="5440680" cy="662940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490767" y="2407386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2360591" y="2294857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3161901" y="2352231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4201643" y="2390080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4841065" y="2377567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5729337" y="2388867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1925227" y="3092531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2726906" y="2995040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3676285" y="3133498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4510921" y="3095102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5285686" y="3115085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1584304" y="3731087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2368547" y="3812574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3164314" y="3871278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3960286" y="3827160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4742825" y="3735443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5734606" y="3849061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2069493" y="4598244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2730885" y="4422870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3767124" y="4640732"/>
            <a:ext cx="493776" cy="493776"/>
          </a:xfrm>
          <a:prstGeom prst="ellipse">
            <a:avLst/>
          </a:prstGeom>
          <a:solidFill>
            <a:srgbClr val="C050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4475148" y="4579565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5294212" y="4482064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1584055" y="5362518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2344450" y="5236037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3171690" y="5315237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4137011" y="5342783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4919324" y="5347040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5764622" y="5375787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1798165" y="5961505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12717917" y="6009403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3549815" y="6126910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14492343" y="5908739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15303661" y="6018516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11585993" y="6752414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12488064" y="6734866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13161385" y="6667049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14095747" y="6747777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14837687" y="6686872"/>
            <a:ext cx="658368" cy="65836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5804563" y="6755505"/>
            <a:ext cx="493776" cy="493776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12778740" y="3794760"/>
            <a:ext cx="2286000" cy="2103120"/>
          </a:xfrm>
          <a:prstGeom prst="ellipse">
            <a:avLst/>
          </a:prstGeom>
          <a:noFill/>
          <a:ln w="15875" cap="sq">
            <a:solidFill>
              <a:srgbClr val="424242"/>
            </a:solidFill>
            <a:prstDash val="dash"/>
          </a:ln>
        </p:spPr>
        <p:txBody>
          <a:bodyPr rtlCol="0" anchor="ctr"/>
          <a:lstStyle/>
          <a:p/>
        </p:txBody>
      </p:sp>
      <p:cxnSp>
        <p:nvCxnSpPr>
          <p:cNvPr id="59" name="Connector 58"/>
          <p:cNvCxnSpPr/>
          <p:nvPr/>
        </p:nvCxnSpPr>
        <p:spPr>
          <a:xfrm flipV="1">
            <a:off x="13921740" y="3703320"/>
            <a:ext cx="1417320" cy="1143000"/>
          </a:xfrm>
          <a:prstGeom prst="line">
            <a:avLst/>
          </a:prstGeom>
          <a:ln w="38100" cap="sq">
            <a:solidFill>
              <a:srgbClr val="C0502E"/>
            </a:solidFill>
            <a:tailEnd type="triangle" w="med" len="med"/>
          </a:ln>
        </p:spPr>
      </p:cxnSp>
      <p:sp>
        <p:nvSpPr>
          <p:cNvPr id="60" name="TextBox 59"/>
          <p:cNvSpPr txBox="1"/>
          <p:nvPr/>
        </p:nvSpPr>
        <p:spPr>
          <a:xfrm>
            <a:off x="15247620" y="32461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600" spc="-78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75720" y="736092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n-US" sz="1600" spc="-48">
                <a:solidFill>
                  <a:srgbClr val="C0502E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Self-propelled particle</a:t>
            </a: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pushing against the </a:t>
            </a: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cage</a:t>
            </a: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formed by its neighbours (65 : 35 mixture).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59568" y="-146304"/>
            <a:ext cx="0" cy="10570464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591056" y="1691640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7200" spc="-504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&amp;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3063240"/>
            <a:ext cx="801014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591056" y="3474720"/>
            <a:ext cx="80010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664208" y="3566160"/>
            <a:ext cx="20939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8" y="3566160"/>
            <a:ext cx="561441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2D Kob–Andersen mixture, 65 : 35, Lennard-Jones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91056" y="4398264"/>
            <a:ext cx="80010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664208" y="4434840"/>
            <a:ext cx="20939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Particles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4434840"/>
            <a:ext cx="561441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 = 1000, constant active force f on each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91056" y="5266944"/>
            <a:ext cx="80010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1664208" y="5303520"/>
            <a:ext cx="20939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5303520"/>
            <a:ext cx="561441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17 values, f = 0 … 2.0, one simulation each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91056" y="6135624"/>
            <a:ext cx="80010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1664208" y="6172200"/>
            <a:ext cx="20939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4488" y="6172200"/>
            <a:ext cx="561441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mean kinetic energy K(t), Δt = 0.5, up to t ≈ 3×10</a:t>
            </a:r>
            <a:r>
              <a:rPr lang="en-US" sz="1900" spc="-56" baseline="30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91056" y="7004304"/>
            <a:ext cx="80010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1664208" y="7040880"/>
            <a:ext cx="20939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We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4488" y="7040880"/>
            <a:ext cx="561441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900" spc="-56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log</a:t>
            </a:r>
            <a:r>
              <a:rPr lang="en-US" sz="1900" spc="-56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  <a:r>
              <a:rPr lang="en-US" sz="1900" spc="-56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K: K falls by more than 20 decades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91056" y="7872984"/>
            <a:ext cx="80010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30" name="Picture 29" descr="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00200"/>
            <a:ext cx="7034189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Two questions, one pipeline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1591056" y="3337560"/>
            <a:ext cx="7315200" cy="224028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65376" y="3538728"/>
            <a:ext cx="6766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4000" spc="-120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4224528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spc="-65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376" y="4601718"/>
            <a:ext cx="6766560" cy="83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900" spc="-56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Do all trajectories follow one master curve, and how does the time scale grow with f?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337560"/>
            <a:ext cx="7315200" cy="224028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200" y="3538728"/>
            <a:ext cx="6766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4000" spc="-120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24528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spc="-65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601718"/>
            <a:ext cx="6766560" cy="83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900" spc="-56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Can Koopman-operator models forecast a K(t) trajectory they have never seen?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91056" y="6172200"/>
            <a:ext cx="2670048" cy="141732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28216" y="642823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17 trajectories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216" y="692200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K(t; f)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15968" y="6885432"/>
            <a:ext cx="315468" cy="0"/>
          </a:xfrm>
          <a:prstGeom prst="line">
            <a:avLst/>
          </a:prstGeom>
          <a:ln w="19050" cap="sq">
            <a:solidFill>
              <a:srgbClr val="424242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4686300" y="6172200"/>
            <a:ext cx="2670048" cy="141732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23460" y="642823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Master curve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460" y="692200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&amp; critical 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6300" y="770839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Q1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11212" y="6885432"/>
            <a:ext cx="315468" cy="0"/>
          </a:xfrm>
          <a:prstGeom prst="line">
            <a:avLst/>
          </a:prstGeom>
          <a:ln w="19050" cap="sq">
            <a:solidFill>
              <a:srgbClr val="424242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7781544" y="6172200"/>
            <a:ext cx="2670048" cy="141732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18704" y="642823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HAVOK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692200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intermittency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544" y="770839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Q1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06456" y="6885432"/>
            <a:ext cx="315468" cy="0"/>
          </a:xfrm>
          <a:prstGeom prst="line">
            <a:avLst/>
          </a:prstGeom>
          <a:ln w="19050" cap="sq">
            <a:solidFill>
              <a:srgbClr val="424242"/>
            </a:solidFill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10876788" y="6172200"/>
            <a:ext cx="2670048" cy="141732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1013948" y="642823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Weak SINDy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3948" y="692200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reduced equation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76788" y="770839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Q1 · Q2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601700" y="6885432"/>
            <a:ext cx="315468" cy="0"/>
          </a:xfrm>
          <a:prstGeom prst="line">
            <a:avLst/>
          </a:prstGeom>
          <a:ln w="19050" cap="sq">
            <a:solidFill>
              <a:srgbClr val="424242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13972032" y="6172200"/>
            <a:ext cx="2670048" cy="1417320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4109192" y="642823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Koopman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09192" y="692200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free-running forecasts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72032" y="770839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Q2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91056" y="8549640"/>
            <a:ext cx="1499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900" spc="-56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Every claim is checked with a test that could fail: baselines, held-out forces, burst-free surrogates and bootstrap intervals.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Anatomy of an arrest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13" name="Picture 12" descr="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3200400"/>
            <a:ext cx="9418320" cy="5540188"/>
          </a:xfrm>
          <a:prstGeom prst="rect">
            <a:avLst/>
          </a:prstGeom>
        </p:spPr>
      </p:pic>
      <p:pic>
        <p:nvPicPr>
          <p:cNvPr id="14" name="Picture 13" descr="arrest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154680"/>
            <a:ext cx="5669280" cy="38090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1201400" y="7086600"/>
            <a:ext cx="5440680" cy="224028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75720" y="7287768"/>
            <a:ext cx="4892040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65"/>
              </a:spcAft>
            </a:pPr>
            <a:r>
              <a:rPr lang="en-US" sz="1900" spc="-56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 = 1.65 still arrests (t ≈ 23 650).</a:t>
            </a:r>
          </a:p>
          <a:p>
            <a:pPr algn="l">
              <a:lnSpc>
                <a:spcPct val="120000"/>
              </a:lnSpc>
            </a:pPr>
            <a:r>
              <a:rPr lang="en-US" sz="1900" spc="-56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 = 1.8 is still decaying at the end of the run (p &lt; 0.001)  →  </a:t>
            </a:r>
            <a:r>
              <a:rPr lang="en-US" sz="1900" spc="-56">
                <a:solidFill>
                  <a:srgbClr val="C0502E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</a:t>
            </a:r>
            <a:r>
              <a:rPr lang="en-US" sz="1900" spc="-56" baseline="-25000">
                <a:solidFill>
                  <a:srgbClr val="C0502E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</a:t>
            </a:r>
            <a:r>
              <a:rPr lang="en-US" sz="1900" spc="-56">
                <a:solidFill>
                  <a:srgbClr val="C0502E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&gt; 1.8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Q1 · One master curve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412480" y="1965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000" spc="-89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log</a:t>
            </a:r>
            <a:r>
              <a:rPr lang="en-US" sz="3000" spc="-89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  <a:r>
              <a:rPr lang="en-US" sz="3000" spc="-89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K(t, f) = a(f) + G( t / τ(f) )</a:t>
            </a:r>
          </a:p>
        </p:txBody>
      </p:sp>
      <p:pic>
        <p:nvPicPr>
          <p:cNvPr id="14" name="Picture 13" descr="collapse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3246120"/>
            <a:ext cx="6949440" cy="4572000"/>
          </a:xfrm>
          <a:prstGeom prst="rect">
            <a:avLst/>
          </a:prstGeom>
        </p:spPr>
      </p:pic>
      <p:pic>
        <p:nvPicPr>
          <p:cNvPr id="15" name="Picture 14" descr="collapse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3246120"/>
            <a:ext cx="6949440" cy="4572000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8458200" y="5486400"/>
            <a:ext cx="1005840" cy="0"/>
          </a:xfrm>
          <a:prstGeom prst="line">
            <a:avLst/>
          </a:prstGeom>
          <a:ln w="38100" cap="sq">
            <a:solidFill>
              <a:srgbClr val="424242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8183880" y="57150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rescale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6" y="800100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4000" spc="-28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spread 1.81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87325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variance of log K across forces, as simulated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800100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4000" spc="-280" b="1">
                <a:solidFill>
                  <a:srgbClr val="C0502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spread 0.030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87325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after t → t/τ(f) and a shift a(f)  ·  R</a:t>
            </a:r>
            <a:r>
              <a:rPr lang="en-US" sz="1700" spc="-51" baseline="30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2</a:t>
            </a: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= 0.983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 the collapse real?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591056" y="3154680"/>
            <a:ext cx="1499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900" spc="-56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Two free numbers per curve is a lot of freedom, so we tested what the collapse never used.</a:t>
            </a:r>
          </a:p>
        </p:txBody>
      </p:sp>
      <p:pic>
        <p:nvPicPr>
          <p:cNvPr id="14" name="Picture 13" descr="tarr_vs_ta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3703320"/>
            <a:ext cx="6766560" cy="4754880"/>
          </a:xfrm>
          <a:prstGeom prst="rect">
            <a:avLst/>
          </a:prstGeom>
        </p:spPr>
      </p:pic>
      <p:pic>
        <p:nvPicPr>
          <p:cNvPr id="15" name="Picture 14" descr="cl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703320"/>
            <a:ext cx="6766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91056" y="85496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Arrest time follows from the slow decay alone: τ</a:t>
            </a:r>
            <a:r>
              <a:rPr lang="en-US" sz="1800" spc="-54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varies 17×, the ratio t</a:t>
            </a:r>
            <a:r>
              <a:rPr lang="en-US" sz="1800" spc="-54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/τ</a:t>
            </a:r>
            <a:r>
              <a:rPr lang="en-US" sz="1800" spc="-54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only </a:t>
            </a:r>
            <a:r>
              <a:rPr lang="en-US" sz="1800" spc="-54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±15 %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8549640"/>
            <a:ext cx="6812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After arrest every force collapses at the same rate: </a:t>
            </a:r>
            <a:r>
              <a:rPr lang="en-US" sz="1800" spc="-54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0.40 ± 0.09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decades per time unit.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Critical slowing down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13" name="Picture 12" descr="critical_log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3108960"/>
            <a:ext cx="6949440" cy="4846320"/>
          </a:xfrm>
          <a:prstGeom prst="rect">
            <a:avLst/>
          </a:prstGeom>
        </p:spPr>
      </p:pic>
      <p:pic>
        <p:nvPicPr>
          <p:cNvPr id="14" name="Picture 13" descr="critical_degene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108960"/>
            <a:ext cx="6949440" cy="4846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91056" y="8001000"/>
            <a:ext cx="4773168" cy="146304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65376" y="8202168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01.  Arrhenius 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8562213"/>
            <a:ext cx="4224528" cy="764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τ grows faster than exponential: ΔAIC = 11–26 for four τ definitions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9984" y="8001000"/>
            <a:ext cx="4773168" cy="1463040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04304" y="8202168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02.  f</a:t>
            </a:r>
            <a:r>
              <a:rPr lang="en-US" sz="2100" spc="-63" b="1" baseline="-25000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</a:t>
            </a: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≈ 1.8 – 1.95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8562213"/>
            <a:ext cx="4224528" cy="764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the critical force lies above every arresting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68912" y="8001000"/>
            <a:ext cx="4773168" cy="146304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143232" y="8202168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03.  γ ≈ 1.4 – 2.1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43232" y="8562213"/>
            <a:ext cx="4224528" cy="764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power law ≈ VFT; γ and f</a:t>
            </a:r>
            <a:r>
              <a:rPr lang="en-US" sz="1600" spc="-48" baseline="-25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</a:t>
            </a: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trade off against each other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HAVOK: linear dynamics + rare kicks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1591056" y="3337560"/>
            <a:ext cx="3364992" cy="297180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19656" y="3520440"/>
            <a:ext cx="2907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 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6" y="5577840"/>
            <a:ext cx="29077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fluctuation of log 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4823460"/>
            <a:ext cx="384048" cy="0"/>
          </a:xfrm>
          <a:prstGeom prst="line">
            <a:avLst/>
          </a:prstGeom>
          <a:ln w="19050" cap="sq">
            <a:solidFill>
              <a:srgbClr val="424242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5486400" y="3337560"/>
            <a:ext cx="3364992" cy="297180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15000" y="3520440"/>
            <a:ext cx="2907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  Delay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5577840"/>
            <a:ext cx="29077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stack 20 t.u. of history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24544" y="4823460"/>
            <a:ext cx="384048" cy="0"/>
          </a:xfrm>
          <a:prstGeom prst="line">
            <a:avLst/>
          </a:prstGeom>
          <a:ln w="19050" cap="sq">
            <a:solidFill>
              <a:srgbClr val="424242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9381744" y="3337560"/>
            <a:ext cx="3364992" cy="297180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10344" y="3520440"/>
            <a:ext cx="2907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  SVD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0344" y="5577840"/>
            <a:ext cx="29077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 few dominant patterns  v</a:t>
            </a:r>
            <a:r>
              <a:rPr lang="en-US" sz="1600" spc="-48" baseline="-25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1</a:t>
            </a: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… v</a:t>
            </a:r>
            <a:r>
              <a:rPr lang="en-US" sz="1600" spc="-48" baseline="-25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819888" y="4823460"/>
            <a:ext cx="384048" cy="0"/>
          </a:xfrm>
          <a:prstGeom prst="line">
            <a:avLst/>
          </a:prstGeom>
          <a:ln w="19050" cap="sq">
            <a:solidFill>
              <a:srgbClr val="424242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13277088" y="3337560"/>
            <a:ext cx="3364992" cy="2971800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505688" y="3520440"/>
            <a:ext cx="2907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  Linear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05688" y="5577840"/>
            <a:ext cx="29077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dv/dt = A v + B v</a:t>
            </a:r>
            <a:r>
              <a:rPr lang="en-US" sz="1600" spc="-48" baseline="-25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</a:t>
            </a:r>
          </a:p>
        </p:txBody>
      </p:sp>
      <p:pic>
        <p:nvPicPr>
          <p:cNvPr id="28" name="Picture 27" descr="signal_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069080"/>
            <a:ext cx="2926080" cy="18288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989320" y="4114800"/>
            <a:ext cx="329184" cy="2743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373368" y="4114800"/>
            <a:ext cx="329184" cy="27432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757416" y="4114800"/>
            <a:ext cx="329184" cy="27432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141464" y="4114800"/>
            <a:ext cx="329184" cy="27432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25512" y="4114800"/>
            <a:ext cx="329184" cy="2743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909560" y="4114800"/>
            <a:ext cx="329184" cy="27432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989320" y="4443984"/>
            <a:ext cx="329184" cy="27432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373368" y="4443984"/>
            <a:ext cx="329184" cy="27432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757416" y="4443984"/>
            <a:ext cx="329184" cy="27432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141464" y="4443984"/>
            <a:ext cx="329184" cy="2743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25512" y="4443984"/>
            <a:ext cx="329184" cy="27432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909560" y="4443984"/>
            <a:ext cx="329184" cy="27432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989320" y="4773168"/>
            <a:ext cx="329184" cy="27432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373368" y="4773168"/>
            <a:ext cx="329184" cy="27432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757416" y="4773168"/>
            <a:ext cx="329184" cy="2743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141464" y="4773168"/>
            <a:ext cx="329184" cy="27432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25512" y="4773168"/>
            <a:ext cx="329184" cy="27432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909560" y="4773168"/>
            <a:ext cx="329184" cy="27432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989320" y="5102352"/>
            <a:ext cx="329184" cy="27432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373368" y="5102352"/>
            <a:ext cx="329184" cy="2743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757416" y="5102352"/>
            <a:ext cx="329184" cy="27432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141464" y="5102352"/>
            <a:ext cx="329184" cy="27432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525512" y="5102352"/>
            <a:ext cx="329184" cy="27432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7909560" y="5102352"/>
            <a:ext cx="329184" cy="2743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9701784" y="4206240"/>
            <a:ext cx="384048" cy="11430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0250424" y="4617720"/>
            <a:ext cx="384048" cy="73152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0799064" y="4892040"/>
            <a:ext cx="384048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1347704" y="5074920"/>
            <a:ext cx="384048" cy="27432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1896344" y="5166360"/>
            <a:ext cx="384048" cy="182880"/>
          </a:xfrm>
          <a:prstGeom prst="rect">
            <a:avLst/>
          </a:prstGeom>
          <a:solidFill>
            <a:srgbClr val="C050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3505688" y="4160520"/>
            <a:ext cx="290779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594"/>
              </a:spcAft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v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quiet → linear</a:t>
            </a:r>
          </a:p>
          <a:p>
            <a:pPr algn="l">
              <a:lnSpc>
                <a:spcPct val="114999"/>
              </a:lnSpc>
            </a:pPr>
            <a:r>
              <a:rPr lang="en-US" sz="1700" spc="-51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</a:t>
            </a:r>
            <a:r>
              <a:rPr lang="en-US" sz="1700" spc="-51" b="1" baseline="-25000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</a:t>
            </a:r>
            <a:r>
              <a:rPr lang="en-US" sz="1700" spc="-51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bursts → something sudden</a:t>
            </a:r>
          </a:p>
        </p:txBody>
      </p:sp>
      <p:pic>
        <p:nvPicPr>
          <p:cNvPr id="59" name="Picture 58" descr="loren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6675120"/>
            <a:ext cx="6035040" cy="246888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138160" y="6903720"/>
            <a:ext cx="85039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30"/>
              </a:spcAft>
            </a:pPr>
            <a:r>
              <a:rPr lang="en-US" sz="1800" spc="-5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Check 1 · Lorenz system: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the forcing fires at the lobe switches (2.7× chance).</a:t>
            </a:r>
          </a:p>
          <a:p>
            <a:pPr algn="l">
              <a:lnSpc>
                <a:spcPct val="120000"/>
              </a:lnSpc>
              <a:spcAft>
                <a:spcPts val="630"/>
              </a:spcAft>
            </a:pPr>
            <a:r>
              <a:rPr lang="en-US" sz="1800" spc="-5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Check 2 · PyDMD: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the open-source implementation gives the same eigenvalue (0.189i vs 0.188i).</a:t>
            </a:r>
          </a:p>
          <a:p>
            <a:pPr algn="l">
              <a:lnSpc>
                <a:spcPct val="120000"/>
              </a:lnSpc>
            </a:pPr>
            <a:r>
              <a:rPr lang="en-US" sz="1800" spc="-54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Our own implementation of Brunton et al., Nat. Commun. 8, 19 (2017).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Bursts announce the arrest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13" name="Picture 12" descr="havok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3154680"/>
            <a:ext cx="9144000" cy="4023360"/>
          </a:xfrm>
          <a:prstGeom prst="rect">
            <a:avLst/>
          </a:prstGeom>
        </p:spPr>
      </p:pic>
      <p:pic>
        <p:nvPicPr>
          <p:cNvPr id="14" name="Picture 13" descr="havok_kurto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154680"/>
            <a:ext cx="5852160" cy="40233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91056" y="7452360"/>
            <a:ext cx="4773168" cy="196596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65376" y="7653528"/>
            <a:ext cx="4224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800" spc="-8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8133588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Bursty only when arresting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8493633"/>
            <a:ext cx="4224528" cy="787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kurtosis 3.5–32 for every arresting force; Gaussian at f = 2.0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9984" y="7452360"/>
            <a:ext cx="4773168" cy="196596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04304" y="7653528"/>
            <a:ext cx="4224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800" spc="-8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8133588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Real, not an artefact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8493633"/>
            <a:ext cx="4224528" cy="787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above all 19 burst-free surrogates; same for 3 window sizes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68912" y="7452360"/>
            <a:ext cx="4773168" cy="1965960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143232" y="7653528"/>
            <a:ext cx="4224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800" spc="-84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43232" y="8133588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 early warning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43232" y="8493633"/>
            <a:ext cx="4224528" cy="787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switches on in the last ~20 % and precedes sudden drops 2.9× more often than chance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reduced equation for all forces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1591056" y="3246120"/>
            <a:ext cx="15051024" cy="1417320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956816" y="3401568"/>
            <a:ext cx="1426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000" spc="-89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τ(f) · dy/dt  =  g( y − a(f) ),      y = log</a:t>
            </a:r>
            <a:r>
              <a:rPr lang="en-US" sz="3000" spc="-89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  <a:r>
              <a:rPr lang="en-US" sz="3000" spc="-89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" y="4069080"/>
            <a:ext cx="1426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g(u) = 7.10u + 2.86u</a:t>
            </a:r>
            <a:r>
              <a:rPr lang="en-US" sz="1700" spc="-51" baseline="30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2</a:t>
            </a: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+ 0.307u</a:t>
            </a:r>
            <a:r>
              <a:rPr lang="en-US" sz="1700" spc="-51" baseline="30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3</a:t>
            </a: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     τ(f) = 1433 (1.935 − f)</a:t>
            </a:r>
            <a:r>
              <a:rPr lang="en-US" sz="1700" spc="-51" baseline="30000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−2.10</a:t>
            </a: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     then collapse at 0.40 decades / t.u.</a:t>
            </a:r>
          </a:p>
        </p:txBody>
      </p:sp>
      <p:pic>
        <p:nvPicPr>
          <p:cNvPr id="16" name="Picture 15" descr="ode_lo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4800600"/>
            <a:ext cx="6949440" cy="4343400"/>
          </a:xfrm>
          <a:prstGeom prst="rect">
            <a:avLst/>
          </a:prstGeom>
        </p:spPr>
      </p:pic>
      <p:pic>
        <p:nvPicPr>
          <p:cNvPr id="17" name="Picture 16" descr="g_of_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800600"/>
            <a:ext cx="5907024" cy="434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91056" y="9235440"/>
            <a:ext cx="1408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500" spc="-44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Weak-form SINDy · a generic polynomial library fails · leave-one-force-out arrest error 17 % · the differential form of the master curve, not a first-principles law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Q2 · Predicting runs never seen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591056" y="32461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(a) Unseen 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91056" y="3794760"/>
            <a:ext cx="7863840" cy="566928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591056" y="3904488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whole trajectory predicted from f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46177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(b) Given the first part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91056" y="5166360"/>
            <a:ext cx="2103120" cy="5669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91056" y="52760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10 / 25 / 50 %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4176" y="5166360"/>
            <a:ext cx="5760720" cy="566928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94176" y="52760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forecast the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6172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100" spc="-63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Five models, all rebuilt without the test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91056" y="6720840"/>
            <a:ext cx="2523744" cy="548640"/>
          </a:xfrm>
          <a:prstGeom prst="round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591056" y="683971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Neighbour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6720840"/>
            <a:ext cx="2194560" cy="548640"/>
          </a:xfrm>
          <a:prstGeom prst="round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43400" y="68397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Parametric HDMD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6720840"/>
            <a:ext cx="2194560" cy="548640"/>
          </a:xfrm>
          <a:prstGeom prst="round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66560" y="68397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Deep Koopman AE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91056" y="7452360"/>
            <a:ext cx="2743200" cy="548640"/>
          </a:xfrm>
          <a:prstGeom prst="round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91056" y="75712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Master-curve Koopman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62856" y="7452360"/>
            <a:ext cx="2633472" cy="548640"/>
          </a:xfrm>
          <a:prstGeom prst="round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62856" y="7571232"/>
            <a:ext cx="2633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Discovered equation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0" y="3246120"/>
            <a:ext cx="0" cy="6080760"/>
          </a:xfrm>
          <a:prstGeom prst="line">
            <a:avLst/>
          </a:prstGeom>
          <a:ln w="12700" cap="sq">
            <a:solidFill>
              <a:srgbClr val="D9D9D9"/>
            </a:solidFill>
          </a:ln>
        </p:spPr>
      </p:cxnSp>
      <p:pic>
        <p:nvPicPr>
          <p:cNvPr id="33" name="Picture 32" descr="onestep_vs_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154680"/>
            <a:ext cx="6400800" cy="311390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469880" y="6446520"/>
            <a:ext cx="6126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30"/>
              </a:spcAft>
            </a:pPr>
            <a:r>
              <a:rPr lang="en-US" sz="1800" spc="-5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One-step-ahead ≠ forecasting.</a:t>
            </a:r>
          </a:p>
          <a:p>
            <a:pPr algn="l">
              <a:lnSpc>
                <a:spcPct val="120000"/>
              </a:lnSpc>
              <a:spcAft>
                <a:spcPts val="63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The same model is 0.02 decades off when shown the true history every step, but 3.5–11.7 decades off when running on its own.</a:t>
            </a:r>
          </a:p>
          <a:p>
            <a:pPr algn="l">
              <a:lnSpc>
                <a:spcPct val="120000"/>
              </a:lnSpc>
            </a:pPr>
            <a:r>
              <a:rPr lang="en-US" sz="1800" spc="-54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All results here are free-running and leave-one-force-out.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Q2 · Forecasting an unseen force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13" name="Picture 12" descr="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3154680"/>
            <a:ext cx="7136606" cy="6172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9006840" y="3291840"/>
            <a:ext cx="763524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079992" y="3383280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43232" y="3383280"/>
            <a:ext cx="2368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median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57832" y="3383280"/>
            <a:ext cx="859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missed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63672" y="3383280"/>
            <a:ext cx="9052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false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06840" y="3895344"/>
            <a:ext cx="763524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9079992" y="3931920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Neighbour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43232" y="3931920"/>
            <a:ext cx="2368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8%  [3%–24%]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57832" y="3931920"/>
            <a:ext cx="859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0/11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63672" y="3931920"/>
            <a:ext cx="9052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1/2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06840" y="4443984"/>
            <a:ext cx="76352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079992" y="4480560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Parametric HDMD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43232" y="4480560"/>
            <a:ext cx="2368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67%  [59%–73%]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57832" y="4480560"/>
            <a:ext cx="859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1/11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63672" y="4480560"/>
            <a:ext cx="9052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0/2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06840" y="4992624"/>
            <a:ext cx="76352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079992" y="5029200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Deep Koopman AE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43232" y="5029200"/>
            <a:ext cx="2368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100%  [100%–100%]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57832" y="5029200"/>
            <a:ext cx="859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11/11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63672" y="5029200"/>
            <a:ext cx="9052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0/2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06840" y="5541264"/>
            <a:ext cx="76352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9079992" y="5577840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Master-curve Koopman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43232" y="5577840"/>
            <a:ext cx="2368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14%  [10%–18%]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57832" y="5577840"/>
            <a:ext cx="859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0/11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663672" y="5577840"/>
            <a:ext cx="9052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0/2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06840" y="6089904"/>
            <a:ext cx="76352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9079992" y="6126480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Discovered equation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43232" y="6126480"/>
            <a:ext cx="23682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17%  [9%–31%]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57832" y="6126480"/>
            <a:ext cx="859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0/11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663672" y="6126480"/>
            <a:ext cx="9052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0/2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006840" y="6638544"/>
            <a:ext cx="763524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9006840" y="67208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arrest-time error, 11 arresting forces; false arrests for f = 1.8, 2.0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7269480"/>
            <a:ext cx="7635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63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Linear Koopman operators cannot create the abrupt arrest; the deep Koopman AE drifts.</a:t>
            </a:r>
          </a:p>
          <a:p>
            <a:pPr algn="l">
              <a:lnSpc>
                <a:spcPct val="114999"/>
              </a:lnSpc>
              <a:spcAft>
                <a:spcPts val="63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Scaling-informed Koopman: </a:t>
            </a:r>
            <a:r>
              <a:rPr lang="en-US" sz="1800" spc="-54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14%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, no missed or false arrests.</a:t>
            </a:r>
          </a:p>
          <a:p>
            <a:pPr algn="l">
              <a:lnSpc>
                <a:spcPct val="114999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 time-stretched neighbour copy is at least as good inside the range (8%) but fails at the edges.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Q2 · Forecasting from the first part of a 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13" name="Picture 12" descr="prefix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3246120"/>
            <a:ext cx="7680960" cy="4800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92640" y="329184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900" spc="-56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Master-curve Koopman, median arrest-time 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931920"/>
            <a:ext cx="2133600" cy="2148840"/>
          </a:xfrm>
          <a:prstGeom prst="rect">
            <a:avLst/>
          </a:prstGeom>
          <a:noFill/>
          <a:ln w="19050" cap="sq">
            <a:solidFill>
              <a:srgbClr val="C0502E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0" y="4114800"/>
            <a:ext cx="213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10 % given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709160"/>
            <a:ext cx="213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4600" spc="-322" b="1">
                <a:solidFill>
                  <a:srgbClr val="C0502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00560" y="3931920"/>
            <a:ext cx="2133600" cy="214884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100560" y="4114800"/>
            <a:ext cx="213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25 % given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00560" y="4709160"/>
            <a:ext cx="213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4600" spc="-322" b="1">
                <a:solidFill>
                  <a:srgbClr val="C0502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508480" y="3931920"/>
            <a:ext cx="2133600" cy="214884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508480" y="4114800"/>
            <a:ext cx="213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50 % given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08480" y="4709160"/>
            <a:ext cx="213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4600" spc="-322" b="1">
                <a:solidFill>
                  <a:srgbClr val="C0502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46520"/>
            <a:ext cx="694944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63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HDMD fitted on the prefix (≈ HAVOK without future kicks) and the deep Koopman AE miss most arrests (up to 6 and 11 of 11).</a:t>
            </a:r>
          </a:p>
          <a:p>
            <a:pPr algn="l">
              <a:lnSpc>
                <a:spcPct val="114999"/>
              </a:lnSpc>
              <a:spcAft>
                <a:spcPts val="63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Discovered equation: 60% → 31%.</a:t>
            </a:r>
          </a:p>
          <a:p>
            <a:pPr algn="l">
              <a:lnSpc>
                <a:spcPct val="114999"/>
              </a:lnSpc>
            </a:pPr>
            <a:r>
              <a:rPr lang="en-US" sz="1800" spc="-54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No missed arrests for the master-curve model at any prefix length.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we tested every claim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591056" y="3200400"/>
            <a:ext cx="1504188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664208" y="3291840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291840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test that could have 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79808" y="3291840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00248" y="3291840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3886200"/>
            <a:ext cx="1504188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664208" y="3922776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f = 1.65 arrests; f = 1.8 still decaying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922776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block-bootstrap test of the slope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79808" y="3922776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 &lt; 0.001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00248" y="3922776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23" name="Connector 22"/>
          <p:cNvCxnSpPr/>
          <p:nvPr/>
        </p:nvCxnSpPr>
        <p:spPr>
          <a:xfrm>
            <a:off x="1591056" y="4517136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1664208" y="4553712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one master curve for f = 1.0 – 1.8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553712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predict arrest from slow decay alone; held-out forces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79808" y="4553712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1700" spc="-51" baseline="30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= 0.97, ratio ±15 %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00248" y="4553712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28" name="Connector 27"/>
          <p:cNvCxnSpPr/>
          <p:nvPr/>
        </p:nvCxnSpPr>
        <p:spPr>
          <a:xfrm>
            <a:off x="1591056" y="5148072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664208" y="5184648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τ diverges faster than exponential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5184648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AIC against Arrhenius, four τ definitions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79808" y="5184648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ΔAIC = 11–26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00248" y="5184648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33" name="Connector 32"/>
          <p:cNvCxnSpPr/>
          <p:nvPr/>
        </p:nvCxnSpPr>
        <p:spPr>
          <a:xfrm>
            <a:off x="1591056" y="5779008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1664208" y="5815584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≈ 1.8 – 1.95,  γ ≈ 1.4 – 2.1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5815584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profile, bootstrap, fit windows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79808" y="5815584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range only (degenerate)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00248" y="5815584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38" name="Connector 37"/>
          <p:cNvCxnSpPr/>
          <p:nvPr/>
        </p:nvCxnSpPr>
        <p:spPr>
          <a:xfrm>
            <a:off x="1591056" y="6409944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1664208" y="6446520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intermittent bursts are real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6446520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19 burst-free surrogates; 3 window sizes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79808" y="6446520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above all surrogates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00248" y="6446520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43" name="Connector 42"/>
          <p:cNvCxnSpPr/>
          <p:nvPr/>
        </p:nvCxnSpPr>
        <p:spPr>
          <a:xfrm>
            <a:off x="1591056" y="7040880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1664208" y="7077456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reduced equation predicts unseen forces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4848" y="7077456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leave-one-out; synthetic recovery; bootstrap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79808" y="7077456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17 % 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00248" y="7077456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48" name="Connector 47"/>
          <p:cNvCxnSpPr/>
          <p:nvPr/>
        </p:nvCxnSpPr>
        <p:spPr>
          <a:xfrm>
            <a:off x="1591056" y="7671816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1664208" y="7708392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dK/dt = −AK + B f K</a:t>
            </a:r>
            <a:r>
              <a:rPr lang="en-US" sz="1700" spc="-51" baseline="30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7708392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fit n and the sign of 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79808" y="7708392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unphysical (B &lt; 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700248" y="7708392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53" name="Connector 52"/>
          <p:cNvCxnSpPr/>
          <p:nvPr/>
        </p:nvCxnSpPr>
        <p:spPr>
          <a:xfrm>
            <a:off x="1591056" y="8302752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1664208" y="8339328"/>
            <a:ext cx="49743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Koopman + master curve forecasts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8339328"/>
            <a:ext cx="524865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free-running, leave-one-out, vs baseline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79808" y="8339328"/>
            <a:ext cx="33741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14%; ties baseline inside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700248" y="8339328"/>
            <a:ext cx="859536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58" name="Connector 57"/>
          <p:cNvCxnSpPr/>
          <p:nvPr/>
        </p:nvCxnSpPr>
        <p:spPr>
          <a:xfrm>
            <a:off x="1591056" y="8933688"/>
            <a:ext cx="1504188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15992856" y="3995928"/>
            <a:ext cx="274320" cy="274320"/>
          </a:xfrm>
          <a:prstGeom prst="ellipse">
            <a:avLst/>
          </a:prstGeom>
          <a:solidFill>
            <a:srgbClr val="4E8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15992856" y="4626864"/>
            <a:ext cx="274320" cy="274320"/>
          </a:xfrm>
          <a:prstGeom prst="ellipse">
            <a:avLst/>
          </a:prstGeom>
          <a:solidFill>
            <a:srgbClr val="4E8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15992856" y="5257800"/>
            <a:ext cx="274320" cy="274320"/>
          </a:xfrm>
          <a:prstGeom prst="ellipse">
            <a:avLst/>
          </a:prstGeom>
          <a:solidFill>
            <a:srgbClr val="4E8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15992856" y="5888736"/>
            <a:ext cx="274320" cy="274320"/>
          </a:xfrm>
          <a:prstGeom prst="ellipse">
            <a:avLst/>
          </a:prstGeom>
          <a:solidFill>
            <a:srgbClr val="D39B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15992856" y="6519672"/>
            <a:ext cx="274320" cy="274320"/>
          </a:xfrm>
          <a:prstGeom prst="ellipse">
            <a:avLst/>
          </a:prstGeom>
          <a:solidFill>
            <a:srgbClr val="4E8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15992856" y="7150608"/>
            <a:ext cx="274320" cy="274320"/>
          </a:xfrm>
          <a:prstGeom prst="ellipse">
            <a:avLst/>
          </a:prstGeom>
          <a:solidFill>
            <a:srgbClr val="4E8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15992856" y="7781544"/>
            <a:ext cx="274320" cy="274320"/>
          </a:xfrm>
          <a:prstGeom prst="ellipse">
            <a:avLst/>
          </a:prstGeom>
          <a:solidFill>
            <a:srgbClr val="B843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15992856" y="8412480"/>
            <a:ext cx="274320" cy="274320"/>
          </a:xfrm>
          <a:prstGeom prst="ellipse">
            <a:avLst/>
          </a:prstGeom>
          <a:solidFill>
            <a:srgbClr val="4E8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1591056" y="9098280"/>
            <a:ext cx="237744" cy="237744"/>
          </a:xfrm>
          <a:prstGeom prst="ellipse">
            <a:avLst/>
          </a:prstGeom>
          <a:solidFill>
            <a:srgbClr val="4E8A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938528" y="903427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supported</a:t>
            </a:r>
          </a:p>
        </p:txBody>
      </p:sp>
      <p:sp>
        <p:nvSpPr>
          <p:cNvPr id="69" name="Oval 68"/>
          <p:cNvSpPr/>
          <p:nvPr/>
        </p:nvSpPr>
        <p:spPr>
          <a:xfrm>
            <a:off x="3968496" y="9098280"/>
            <a:ext cx="237744" cy="237744"/>
          </a:xfrm>
          <a:prstGeom prst="ellipse">
            <a:avLst/>
          </a:prstGeom>
          <a:solidFill>
            <a:srgbClr val="D39B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315968" y="903427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partly</a:t>
            </a:r>
          </a:p>
        </p:txBody>
      </p:sp>
      <p:sp>
        <p:nvSpPr>
          <p:cNvPr id="71" name="Oval 70"/>
          <p:cNvSpPr/>
          <p:nvPr/>
        </p:nvSpPr>
        <p:spPr>
          <a:xfrm>
            <a:off x="6345936" y="9098280"/>
            <a:ext cx="237744" cy="237744"/>
          </a:xfrm>
          <a:prstGeom prst="ellipse">
            <a:avLst/>
          </a:prstGeom>
          <a:solidFill>
            <a:srgbClr val="B843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693408" y="903427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600" spc="-4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rejected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78240" y="903427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500" spc="-44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full list of 15 claims in the technical report: 10 supported · 4 partly · 1 rejected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spc="-420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Take-home messages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591056" y="33375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400" spc="-102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3355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spc="-65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Q1 ·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3813048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One master curve  log</a:t>
            </a:r>
            <a:r>
              <a:rPr lang="en-US" sz="1800" spc="-54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 = a(f) + G(t/τ(f));  τ diverges near f</a:t>
            </a:r>
            <a:r>
              <a:rPr lang="en-US" sz="1800" spc="-54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≈ 1.8–1.95.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480060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400" spc="-102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5496" y="481888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spc="-65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Q2 ·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96" y="5276088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Plain Koopman models fail when run freely; a scaling-informed Koopman model predicts unseen runs (14%).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626364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400" spc="-102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5496" y="628192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spc="-65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Equation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6739128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τ(f) · dy/dt = g(y − a(f)): compact, predictive, data-driven.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772668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400" spc="-102" b="1">
                <a:solidFill>
                  <a:srgbClr val="C0502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5496" y="774496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spc="-65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HAVOK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8202168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Intermittent bursts switch on before arrest: an early-warning signal.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47120" y="3337560"/>
            <a:ext cx="5394960" cy="5760720"/>
          </a:xfrm>
          <a:prstGeom prst="rect">
            <a:avLst/>
          </a:prstGeom>
          <a:noFill/>
          <a:ln w="19050" cap="sq">
            <a:solidFill>
              <a:srgbClr val="424242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567160" y="3611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400" spc="-72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Next steps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567160" y="4251960"/>
            <a:ext cx="4754880" cy="0"/>
          </a:xfrm>
          <a:prstGeom prst="line">
            <a:avLst/>
          </a:prstGeom>
          <a:ln w="12700" cap="sq">
            <a:solidFill>
              <a:srgbClr val="424242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11567160" y="4480560"/>
            <a:ext cx="48006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4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Several runs per force → error bars</a:t>
            </a:r>
          </a:p>
          <a:p>
            <a:pPr algn="l">
              <a:lnSpc>
                <a:spcPct val="120000"/>
              </a:lnSpc>
              <a:spcAft>
                <a:spcPts val="144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Blind test: predict f = 1.7, 1.75, 1.85, 1.9 before simulating them</a:t>
            </a:r>
          </a:p>
          <a:p>
            <a:pPr algn="l">
              <a:lnSpc>
                <a:spcPct val="120000"/>
              </a:lnSpc>
              <a:spcAft>
                <a:spcPts val="1440"/>
              </a:spcAft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 second system size and density</a:t>
            </a:r>
          </a:p>
          <a:p>
            <a:pPr algn="l">
              <a:lnSpc>
                <a:spcPct val="120000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Compare γ and G with active mode-coupling theory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4" id="4"/>
          <p:cNvSpPr/>
          <p:nvPr/>
        </p:nvSpPr>
        <p:spPr>
          <a:xfrm>
            <a:off x="1588577" y="5357110"/>
            <a:ext cx="9240715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88577" y="2964276"/>
            <a:ext cx="11151256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6"/>
              </a:lnSpc>
            </a:pPr>
            <a:r>
              <a:rPr lang="en-US" sz="16028" spc="-1122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16028" spc="-1122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14360" y="6533861"/>
            <a:ext cx="4129747" cy="64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8"/>
              </a:lnSpc>
              <a:spcBef>
                <a:spcPct val="0"/>
              </a:spcBef>
            </a:pPr>
            <a:r>
              <a:rPr lang="en-US" sz="2086" spc="-62" strike="noStrike" u="none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Questions are very welcome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8577" y="6533861"/>
            <a:ext cx="3318718" cy="64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2086" spc="-62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Decoding Dense Active Fluids Through 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8577" y="8604800"/>
            <a:ext cx="35007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Presented by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51792" y="8604800"/>
            <a:ext cx="475488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Code &amp; data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8577" y="8937625"/>
            <a:ext cx="35007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51792" y="8937625"/>
            <a:ext cx="475488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github.com/Rithvik188/Compflu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1198" y="981075"/>
            <a:ext cx="22645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931773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800" spc="-5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Rithvik Arulprakash  ·  Harshith KV  ·  Vipin Sudhakar  ·  Vijay Murugan</a:t>
            </a:r>
          </a:p>
        </p:txBody>
      </p:sp>
      <p:pic>
        <p:nvPicPr>
          <p:cNvPr id="17" name="Picture 16" descr="collapse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2377440"/>
            <a:ext cx="5486400" cy="36094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4800" spc="-336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Backup · Critical fits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591056" y="3291840"/>
            <a:ext cx="1504188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664208" y="338328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τ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38328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best f</a:t>
            </a:r>
            <a:r>
              <a:rPr lang="en-US" sz="1700" spc="-51" b="1" baseline="-25000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338328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best 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38328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acceptable f</a:t>
            </a:r>
            <a:r>
              <a:rPr lang="en-US" sz="1700" spc="-51" b="1" baseline="-25000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</a:t>
            </a: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 (ΔAIC &lt;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48288" y="338328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acceptable 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51408" y="338328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ΔAIC Arrhenius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88768" y="338328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ΔAIC VFT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91056" y="3986784"/>
            <a:ext cx="1504188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1664208" y="402336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arrest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402336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402336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02336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1.74 – 1.94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48288" y="40233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1.15 – 1.97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51408" y="402336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+11.1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88768" y="402336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+0.8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91056" y="4626864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1664208" y="466344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time to K = 10</a:t>
            </a:r>
            <a:r>
              <a:rPr lang="en-US" sz="1700" spc="-51" baseline="30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−5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7568" y="466344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66344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466344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1.78 – 2.00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48288" y="466344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1.60 – 2.69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51408" y="466344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+12.0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88768" y="466344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+0.7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591056" y="5266944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1664208" y="530352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slow-decay time τ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7568" y="530352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530352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30352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1.86 – 1.93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48288" y="530352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1.66 – 2.18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51408" y="530352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+24.2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88768" y="530352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-2.3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91056" y="5907024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664208" y="594360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master-curve 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7568" y="594360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1.93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0608" y="594360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2.10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594360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1.89 – 2.00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594360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1.81 – 2.49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551408" y="594360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+20.4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88768" y="594360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-0.9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591056" y="6547104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1664208" y="658368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time to K = 10</a:t>
            </a:r>
            <a:r>
              <a:rPr lang="en-US" sz="1700" spc="-51" baseline="30000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−4</a:t>
            </a: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  (biased)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87568" y="658368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2.02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0608" y="658368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3.08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22208" y="658368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1.92 – 2.17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48288" y="658368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2.58 – 3.85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551408" y="658368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+16.8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88768" y="658368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+1.2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591056" y="7187184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1664208" y="722376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time to K = 10</a:t>
            </a:r>
            <a:r>
              <a:rPr lang="en-US" sz="1700" spc="-51" baseline="30000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−3</a:t>
            </a: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  (biased)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87568" y="722376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3.00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50608" y="722376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10.66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8" y="722376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2.53 – 3.00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48288" y="72237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7.57 – 10.66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551408" y="722376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-6.7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88768" y="722376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+5.0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591056" y="7827264"/>
            <a:ext cx="1504188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1664208" y="7863840"/>
            <a:ext cx="3877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HDMD on linear K  (biased)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87568" y="7863840"/>
            <a:ext cx="1316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3.00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50608" y="7863840"/>
            <a:ext cx="1225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6.40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22208" y="7863840"/>
            <a:ext cx="27797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2.60 – 3.00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48288" y="786384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4.83 – 6.40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551408" y="7863840"/>
            <a:ext cx="15910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-6.0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288768" y="7863840"/>
            <a:ext cx="1271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+6.6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591056" y="8467344"/>
            <a:ext cx="1504188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1591056" y="8732520"/>
            <a:ext cx="1499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τ = A (f</a:t>
            </a:r>
            <a:r>
              <a:rPr lang="en-US" sz="1600" spc="-48" baseline="-25000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 − f)</a:t>
            </a:r>
            <a:r>
              <a:rPr lang="en-US" sz="1600" spc="-48" baseline="30000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−γ</a:t>
            </a: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 with f</a:t>
            </a:r>
            <a:r>
              <a:rPr lang="en-US" sz="1600" spc="-48" baseline="-25000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1600" spc="-48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 above every fitted force. Times to reach a fixed level mix the f-dependent offset a(f) with the time scale and are therefore biased.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4800" spc="-336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Backup · HAVOK robustness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13" name="Picture 12" descr="havok_pd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3200400"/>
            <a:ext cx="6766560" cy="45720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8869680" y="3383280"/>
            <a:ext cx="77724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942832" y="3474720"/>
            <a:ext cx="15910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delay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3474720"/>
            <a:ext cx="22311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median kurtosis (arresting)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57632" y="34747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 = 1.8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09192" y="34747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 =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60752" y="3474720"/>
            <a:ext cx="14081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drops: hit / chance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4123944"/>
            <a:ext cx="77724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942832" y="4160520"/>
            <a:ext cx="15910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10 t.u.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4160520"/>
            <a:ext cx="22311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11.7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57632" y="41605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09192" y="41605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60752" y="4160520"/>
            <a:ext cx="14081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3.3×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0" y="4809744"/>
            <a:ext cx="77724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8942832" y="4846320"/>
            <a:ext cx="15910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20 t.u.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846320"/>
            <a:ext cx="22311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10.7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57632" y="48463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09192" y="48463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-0.07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60752" y="4846320"/>
            <a:ext cx="14081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2.9×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69680" y="5495544"/>
            <a:ext cx="77724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8942832" y="5532120"/>
            <a:ext cx="15910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40 t.u.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80192" y="5532120"/>
            <a:ext cx="22311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9.8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57632" y="55321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09192" y="5532120"/>
            <a:ext cx="90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-0.03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60752" y="5532120"/>
            <a:ext cx="140817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3.1×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69680" y="6181344"/>
            <a:ext cx="77724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869680" y="6492240"/>
            <a:ext cx="77724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594"/>
              </a:spcAft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Every arresting force has fat-tailed forcing at every window size; f = 2.0 stays Gaussian.</a:t>
            </a:r>
          </a:p>
          <a:p>
            <a:pPr algn="l">
              <a:lnSpc>
                <a:spcPct val="114999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Surrogates: phase-randomised copies with the same power spectrum (Theiler et al., Physica D 1992).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4800" spc="-336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Backup · Equation details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591056" y="3291840"/>
            <a:ext cx="73152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664208" y="3383280"/>
            <a:ext cx="1133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383280"/>
            <a:ext cx="16824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coefficient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383280"/>
            <a:ext cx="25968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95 % bootstrap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3383280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selected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3941064"/>
            <a:ext cx="73152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664208" y="3977640"/>
            <a:ext cx="1133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977640"/>
            <a:ext cx="16824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977640"/>
            <a:ext cx="25968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[-12.02, 64.80]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977640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18 %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91056" y="4535424"/>
            <a:ext cx="73152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1664208" y="4572000"/>
            <a:ext cx="1133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4572000"/>
            <a:ext cx="16824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7.102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572000"/>
            <a:ext cx="25968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[-4.83, 50.00]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4572000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99 %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91056" y="5129784"/>
            <a:ext cx="73152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664208" y="5166360"/>
            <a:ext cx="1133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1700" spc="-51" baseline="30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5166360"/>
            <a:ext cx="16824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2.859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5166360"/>
            <a:ext cx="25968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[-0.62, 11.73]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5166360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98 %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91056" y="5724144"/>
            <a:ext cx="731520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1664208" y="5760720"/>
            <a:ext cx="1133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1700" spc="-51" baseline="30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5760720"/>
            <a:ext cx="16824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0.307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5760720"/>
            <a:ext cx="25968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[0.00, 0.89]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5760720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89 %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591056" y="6318504"/>
            <a:ext cx="731520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1591056" y="672084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Aft>
                <a:spcPts val="594"/>
              </a:spcAft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Polynomial degree (leave-one-out arrest error): quadratic 37%, cubic 17%, quartic 14%.</a:t>
            </a:r>
          </a:p>
          <a:p>
            <a:pPr algn="l">
              <a:lnSpc>
                <a:spcPct val="114999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Synthetic test: the correct law is recovered up to twice the data's noise level.</a:t>
            </a:r>
          </a:p>
        </p:txBody>
      </p:sp>
      <p:pic>
        <p:nvPicPr>
          <p:cNvPr id="40" name="Picture 39" descr="langev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0"/>
            <a:ext cx="6766560" cy="43230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92640" y="768096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Langevin version: median rescaled arrest time 1.21 vs 1.17 observed; the spread is overestimated.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4800" spc="-336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Backup · Per-force forecast errors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591056" y="3154680"/>
            <a:ext cx="1499616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664208" y="3246120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24612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Neighbour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24612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Param. HDMD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24612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Deep Koopman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3968" y="324612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Master 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17168" y="324612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Equation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91056" y="3639312"/>
            <a:ext cx="1499616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1664208" y="3675888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367588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+47 %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67588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-48 %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367588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73968" y="367588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+10 %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17168" y="367588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+67 %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91056" y="4069080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1664208" y="4105656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410565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-24 %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8" y="410565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-74 %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10565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410565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-41 %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17168" y="410565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-22 %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91056" y="4498848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1664208" y="4535424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4368" y="453542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-11 %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8" y="453542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-73 %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453542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73968" y="453542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-24 %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17168" y="453542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-5 %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91056" y="4928616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1664208" y="4965192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496519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+25 %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7568" y="496519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-59 %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8" y="496519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73968" y="496519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917168" y="496519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+31 %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591056" y="5358384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1664208" y="5394960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4368" y="539496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-4 %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87568" y="539496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-67 %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39496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73968" y="539496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-14 %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917168" y="539496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+11 %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591056" y="5788152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1664208" y="5824728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4368" y="582472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+0 %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87568" y="582472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-67 %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582472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73968" y="582472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-14 %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17168" y="582472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+9 %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591056" y="6217920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1664208" y="6254496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4368" y="625449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-8 %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7568" y="625449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-69 %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0768" y="625449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73968" y="625449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-12 %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917168" y="625449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+17 %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591056" y="6647688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1664208" y="6684264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44368" y="668426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+20 %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87568" y="668426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-57 %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30768" y="668426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73968" y="668426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+11 %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917168" y="668426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+45 %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591056" y="7077456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1664208" y="7114032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4368" y="711403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+2 %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87568" y="711403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-67 %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30768" y="711403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73968" y="711403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-4 %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917168" y="7114032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+31 %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591056" y="7507224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1664208" y="7543800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754380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-3 %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87568" y="754380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-63 %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30768" y="754380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73968" y="754380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-17 %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917168" y="7543800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+11 %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591056" y="7936992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1664208" y="7973568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1.65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44368" y="797356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+6 %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87568" y="797356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30768" y="797356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no arrest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73968" y="797356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-18 %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917168" y="7973568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+8 %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591056" y="8366760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98" name="TextBox 97"/>
          <p:cNvSpPr txBox="1"/>
          <p:nvPr/>
        </p:nvSpPr>
        <p:spPr>
          <a:xfrm>
            <a:off x="1664208" y="8403336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44368" y="840333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false arrest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87568" y="840333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30768" y="840333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173968" y="840333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917168" y="8403336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591056" y="8796528"/>
            <a:ext cx="1499616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1664208" y="8833104"/>
            <a:ext cx="113385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2.0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44368" y="883310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87568" y="883310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30768" y="883310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73968" y="883310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C0502E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917168" y="8833104"/>
            <a:ext cx="259689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spc="-44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correct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591056" y="9226296"/>
            <a:ext cx="1499616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1591056" y="9281160"/>
            <a:ext cx="1499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relative error of the predicted arrest time; f = 1.0 and f ≥ 1.65 require extrapolation in 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3" id="3"/>
          <p:cNvSpPr/>
          <p:nvPr/>
        </p:nvSpPr>
        <p:spPr>
          <a:xfrm flipH="true" flipV="true">
            <a:off x="990600" y="-142991"/>
            <a:ext cx="0" cy="10572982"/>
          </a:xfrm>
          <a:prstGeom prst="line">
            <a:avLst/>
          </a:prstGeom>
          <a:ln cap="flat" w="76200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177431" y="981075"/>
            <a:ext cx="36084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88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Team B-9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163" y="981075"/>
            <a:ext cx="44135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88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9555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1400" spc="-42">
                <a:solidFill>
                  <a:srgbClr val="8A8A8A"/>
                </a:solidFill>
                <a:latin typeface="Open Sans 1"/>
                <a:ea typeface="Open Sans 1"/>
                <a:cs typeface="Open Sans 1"/>
                <a:sym typeface="Open Sans 1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691640"/>
            <a:ext cx="1499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4800" spc="-336" b="1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Backup · Method checks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26080"/>
            <a:ext cx="15051024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pic>
        <p:nvPicPr>
          <p:cNvPr id="13" name="Picture 12" descr="sindy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3200400"/>
            <a:ext cx="6217920" cy="414528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9052560" y="3291840"/>
            <a:ext cx="740664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125712" y="3383280"/>
            <a:ext cx="31455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τ</a:t>
            </a:r>
            <a:r>
              <a:rPr lang="en-US" sz="1700" spc="-51" b="1" baseline="-25000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</a:t>
            </a: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fit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7552" y="3383280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97712" y="3383280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</a:t>
            </a:r>
            <a:r>
              <a:rPr lang="en-US" sz="1700" spc="-51" b="1" baseline="-25000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60752" y="3383280"/>
            <a:ext cx="12252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 b="1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</a:t>
            </a:r>
            <a:r>
              <a:rPr lang="en-US" sz="1700" spc="-51" b="1" baseline="30000">
                <a:solidFill>
                  <a:srgbClr val="42424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52560" y="3913632"/>
            <a:ext cx="740664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9125712" y="3950208"/>
            <a:ext cx="31455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 = 20 … 0.70 t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17552" y="3950208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97712" y="3950208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60752" y="3950208"/>
            <a:ext cx="12252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0.988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52560" y="4480560"/>
            <a:ext cx="74066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125712" y="4517136"/>
            <a:ext cx="31455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 = 20 … 0.85 t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17552" y="4517136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97712" y="4517136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60752" y="4517136"/>
            <a:ext cx="12252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0.984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52560" y="5047488"/>
            <a:ext cx="74066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125712" y="5084064"/>
            <a:ext cx="31455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 = 20 … 0.95 t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17552" y="5084064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97712" y="5084064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60752" y="5084064"/>
            <a:ext cx="12252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0.978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52560" y="5614416"/>
            <a:ext cx="74066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9125712" y="5650992"/>
            <a:ext cx="31455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 = 100 … 0.70 t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17552" y="5650992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97712" y="5650992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60752" y="5650992"/>
            <a:ext cx="12252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0.987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52560" y="6181344"/>
            <a:ext cx="74066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9125712" y="6217920"/>
            <a:ext cx="31455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 = 100 … 0.85 t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17552" y="6217920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97712" y="6217920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160752" y="6217920"/>
            <a:ext cx="12252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0.982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052560" y="6748272"/>
            <a:ext cx="7406640" cy="0"/>
          </a:xfrm>
          <a:prstGeom prst="line">
            <a:avLst/>
          </a:prstGeom>
          <a:ln w="7620" cap="sq">
            <a:solidFill>
              <a:srgbClr val="D9D9D9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9125712" y="6784848"/>
            <a:ext cx="31455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t = 100 … 0.95 t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arr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17552" y="6784848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697712" y="6784848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1.887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160752" y="6784848"/>
            <a:ext cx="12252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0.977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52560" y="7315200"/>
            <a:ext cx="7406640" cy="0"/>
          </a:xfrm>
          <a:prstGeom prst="line">
            <a:avLst/>
          </a:prstGeom>
          <a:ln w="19050" cap="sq">
            <a:solidFill>
              <a:srgbClr val="424242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1591056" y="768096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Weak SINDy recovers the right terms on synthetic data with the simulations' correlated noise up to 0.2 decades (ours ≈ 0.1).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7680960"/>
            <a:ext cx="7589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γ and f</a:t>
            </a:r>
            <a:r>
              <a:rPr lang="en-US" sz="1700" spc="-51" baseline="-25000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1700" spc="-51">
                <a:solidFill>
                  <a:srgbClr val="424242"/>
                </a:solidFill>
                <a:latin typeface="Open Sans 1"/>
                <a:ea typeface="Open Sans 1"/>
                <a:cs typeface="Open Sans 1"/>
                <a:sym typeface="Open Sans 1"/>
              </a:rPr>
              <a:t> barely move when the slow-stage window is 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DAHScydaZ6c</dc:identifier>
  <dcterms:modified xsi:type="dcterms:W3CDTF">2011-08-01T06:04:30Z</dcterms:modified>
  <cp:revision>1</cp:revision>
  <dc:title>White and Black Modern Company Research Proposal Presentation</dc:title>
</cp:coreProperties>
</file>